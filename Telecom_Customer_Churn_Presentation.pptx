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245-4C3D-94AB-271131A6CB96}"/>
              </c:ext>
            </c:extLst>
          </c:dPt>
          <c:dPt>
            <c:idx val="1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245-4C3D-94AB-271131A6CB9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45-4C3D-94AB-271131A6CB9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245-4C3D-94AB-271131A6CB9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Retained (No Churn)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5174</c:v>
                </c:pt>
                <c:pt idx="1">
                  <c:v>1869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245-4C3D-94AB-271131A6CB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44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F2A44"/>
                </a:solidFill>
                <a:latin typeface="Arial"/>
              </a:rPr>
              <a:t>Average Tenure (months)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Tenure (months)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A95-41B8-A914-AF4BA13D4CF7}"/>
              </c:ext>
            </c:extLst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95-41B8-A914-AF4BA13D4CF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A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Churned</c:v>
                </c:pt>
                <c:pt idx="1">
                  <c:v>Retained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17.899999999999999</c:v>
                </c:pt>
                <c:pt idx="1">
                  <c:v>37.6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A95-41B8-A914-AF4BA13D4C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44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F2A44"/>
                </a:solidFill>
                <a:latin typeface="Arial"/>
              </a:rPr>
              <a:t>Average Monthly Charges ($)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Monthly Charges ($)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272-442E-B324-7CAE7538238D}"/>
              </c:ext>
            </c:extLst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72-442E-B324-7CAE7538238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A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Churned</c:v>
                </c:pt>
                <c:pt idx="1">
                  <c:v>Retained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74.400000000000006</c:v>
                </c:pt>
                <c:pt idx="1">
                  <c:v>61.3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272-442E-B324-7CAE753823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F2A44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Decision Tree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80.27</c:v>
                </c:pt>
                <c:pt idx="1">
                  <c:v>79.209999999999994</c:v>
                </c:pt>
                <c:pt idx="2">
                  <c:v>73.03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07-4F79-8C31-129BF79674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Decision Tree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64.599999999999994</c:v>
                </c:pt>
                <c:pt idx="1">
                  <c:v>63.7</c:v>
                </c:pt>
                <c:pt idx="2">
                  <c:v>49.2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07-4F79-8C31-129BF796741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6FA8AC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Decision Tree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57</c:v>
                </c:pt>
                <c:pt idx="1">
                  <c:v>50.3</c:v>
                </c:pt>
                <c:pt idx="2">
                  <c:v>51.9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007-4F79-8C31-129BF796741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Decision Tree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60.5</c:v>
                </c:pt>
                <c:pt idx="1">
                  <c:v>56.2</c:v>
                </c:pt>
                <c:pt idx="2">
                  <c:v>50.5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007-4F79-8C31-129BF79674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Score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A68-42DF-B34C-2F4D57ED6B3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A68-42DF-B34C-2F4D57ED6B3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A68-42DF-B34C-2F4D57ED6B3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A68-42DF-B34C-2F4D57ED6B3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9A68-42DF-B34C-2F4D57ED6B3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9A68-42DF-B34C-2F4D57ED6B3F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9A68-42DF-B34C-2F4D57ED6B3F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9A68-42DF-B34C-2F4D57ED6B3F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9A68-42DF-B34C-2F4D57ED6B3F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9A68-42DF-B34C-2F4D57ED6B3F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A2A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TotalCharges</c:v>
                </c:pt>
                <c:pt idx="1">
                  <c:v>MonthlyCharges</c:v>
                </c:pt>
                <c:pt idx="2">
                  <c:v>tenure</c:v>
                </c:pt>
                <c:pt idx="3">
                  <c:v>Contract</c:v>
                </c:pt>
                <c:pt idx="4">
                  <c:v>PaymentMethod</c:v>
                </c:pt>
                <c:pt idx="5">
                  <c:v>OnlineSecurity</c:v>
                </c:pt>
                <c:pt idx="6">
                  <c:v>TechSupport</c:v>
                </c:pt>
                <c:pt idx="7">
                  <c:v>gender</c:v>
                </c:pt>
                <c:pt idx="8">
                  <c:v>InternetService</c:v>
                </c:pt>
                <c:pt idx="9">
                  <c:v>OnlineBackup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0.18679999999999999</c:v>
                </c:pt>
                <c:pt idx="1">
                  <c:v>0.1792</c:v>
                </c:pt>
                <c:pt idx="2">
                  <c:v>0.15429999999999999</c:v>
                </c:pt>
                <c:pt idx="3">
                  <c:v>7.9600000000000004E-2</c:v>
                </c:pt>
                <c:pt idx="4">
                  <c:v>5.0099999999999999E-2</c:v>
                </c:pt>
                <c:pt idx="5">
                  <c:v>4.9599999999999998E-2</c:v>
                </c:pt>
                <c:pt idx="6">
                  <c:v>4.36E-2</c:v>
                </c:pt>
                <c:pt idx="7">
                  <c:v>2.7900000000000001E-2</c:v>
                </c:pt>
                <c:pt idx="8">
                  <c:v>2.7799999999999998E-2</c:v>
                </c:pt>
                <c:pt idx="9">
                  <c:v>2.7099999999999999E-2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9A68-42DF-B34C-2F4D57ED6B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2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7007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0E7C8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3108960" cy="3108960"/>
          </a:xfrm>
          <a:prstGeom prst="ellipse">
            <a:avLst/>
          </a:prstGeom>
          <a:solidFill>
            <a:srgbClr val="E4572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206240"/>
            <a:ext cx="3291840" cy="3291840"/>
          </a:xfrm>
          <a:prstGeom prst="ellipse">
            <a:avLst/>
          </a:prstGeom>
          <a:solidFill>
            <a:srgbClr val="0E7C86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FE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PROJECT REPORT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Customer Churn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 •  Exploratory Data Analysis  •  Feature Engineering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 •  Business Recommendations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914400" cy="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Aashim 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solidFill>
                <a:srgbClr val="5C70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pipeline was built to analyze and predict telecom customer churn — spanning data cleaning, exploratory analysis, feature engineering, predictive modeling, and feature importance analysis — culminating in actionable business recommendations.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structural indicators driving churn through systematic cleaning and correction of the data, then train machine learning models capable of predicting which customers are at risk of leaving.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1508760"/>
            <a:ext cx="4709160" cy="1481328"/>
          </a:xfrm>
          <a:prstGeom prst="roundRect">
            <a:avLst>
              <a:gd name="adj" fmla="val 4938"/>
            </a:avLst>
          </a:prstGeom>
          <a:solidFill>
            <a:srgbClr val="F5F8F9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23760" y="1618488"/>
            <a:ext cx="1737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80.3%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915400" y="1618488"/>
            <a:ext cx="2514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accuracy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(Logistic Regression)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3191256"/>
            <a:ext cx="4709160" cy="1481328"/>
          </a:xfrm>
          <a:prstGeom prst="roundRect">
            <a:avLst>
              <a:gd name="adj" fmla="val 4938"/>
            </a:avLst>
          </a:prstGeom>
          <a:solidFill>
            <a:srgbClr val="F5F8F9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23760" y="3300984"/>
            <a:ext cx="1737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915400" y="3300984"/>
            <a:ext cx="2514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churned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(1,869 of 7,043)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4873752"/>
            <a:ext cx="4709160" cy="1481328"/>
          </a:xfrm>
          <a:prstGeom prst="roundRect">
            <a:avLst>
              <a:gd name="adj" fmla="val 4938"/>
            </a:avLst>
          </a:prstGeom>
          <a:solidFill>
            <a:srgbClr val="F5F8F9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23760" y="4983480"/>
            <a:ext cx="1737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915400" y="4983480"/>
            <a:ext cx="2514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predictors: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TotalCharges, MonthlyCharges, tenure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Profile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0F2A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64008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429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attributes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074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B9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Telecom Customer Churn dataset (WA_Fn-UseC_-Telco-Customer-Churn.csv)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51960" y="1600200"/>
            <a:ext cx="566928" cy="566928"/>
          </a:xfrm>
          <a:prstGeom prst="ellipse">
            <a:avLst/>
          </a:prstGeom>
          <a:solidFill>
            <a:srgbClr val="CFE8E7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361" y="1747601"/>
            <a:ext cx="272125" cy="27212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0" y="158191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029200" y="190195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senior citizen, partner, dependents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51960" y="2624328"/>
            <a:ext cx="566928" cy="566928"/>
          </a:xfrm>
          <a:prstGeom prst="ellipse">
            <a:avLst/>
          </a:prstGeom>
          <a:solidFill>
            <a:srgbClr val="CFE8E7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361" y="2771729"/>
            <a:ext cx="272125" cy="27212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29200" y="2606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&amp; Engagement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5029200" y="29260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contract type, paperless billing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251960" y="3648456"/>
            <a:ext cx="566928" cy="566928"/>
          </a:xfrm>
          <a:prstGeom prst="ellipse">
            <a:avLst/>
          </a:prstGeom>
          <a:solidFill>
            <a:srgbClr val="CFE8E7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9361" y="3795857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29200" y="363016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Subscribed Services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029200" y="395020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Internet, phone, streaming, tech support, security add-ons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251960" y="4672584"/>
            <a:ext cx="566928" cy="566928"/>
          </a:xfrm>
          <a:prstGeom prst="ellipse">
            <a:avLst/>
          </a:prstGeom>
          <a:solidFill>
            <a:srgbClr val="CFE8E7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9361" y="4819985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029200" y="4654296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Information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5029200" y="4974336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total charges, payment method, plus the binary churn label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Preprocessing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audit found the data structurally clean (no nulls flagged, zero duplicates) — but TotalCharges hid 11 blank-space entries behind an object dtype, masking them from the standard null check. A four-step pipeline addressed this.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F5F8F9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51460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E8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49808" y="320040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3630168"/>
            <a:ext cx="22677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raw CSV and audited the base shape: 7,043 rows × 21 columns.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18688" y="3872484"/>
            <a:ext cx="164592" cy="16459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233172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F5F8F9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84448" y="251460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E8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84448" y="320040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Casting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84448" y="3630168"/>
            <a:ext cx="22677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TotalCharges to float via pandas.to_numeric() with coercion, turning 11 blank entries into NaN.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3872484"/>
            <a:ext cx="164592" cy="16459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233172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F5F8F9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19088" y="251460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E8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19088" y="320040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9088" y="3630168"/>
            <a:ext cx="22677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NaN values using the column median — preserving distribution, avoiding mean/drop bias.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87968" y="3872484"/>
            <a:ext cx="164592" cy="16459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0" name="Shape 18"/>
          <p:cNvSpPr/>
          <p:nvPr/>
        </p:nvSpPr>
        <p:spPr>
          <a:xfrm>
            <a:off x="9052560" y="233172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F5F8F9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53728" y="251460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E8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253728" y="320040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53728" y="3630168"/>
            <a:ext cx="22677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zero duplicates, zero remaining nulls, exported cleaned_telco_churn.csv.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Post-Cleaning Summary Statistics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406640" cy="290779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Citizen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(months)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 ($)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 ($)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2,281.92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Dev.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2,265.27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1,397.48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8,684.80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006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duplicate records — zero remaining nulls after cleaning.</a:t>
            </a:r>
            <a:endParaRPr lang="en-US" sz="1150" dirty="0"/>
          </a:p>
        </p:txBody>
      </p:sp>
      <p:sp>
        <p:nvSpPr>
          <p:cNvPr id="4" name="Shape 3"/>
          <p:cNvSpPr/>
          <p:nvPr/>
        </p:nvSpPr>
        <p:spPr>
          <a:xfrm>
            <a:off x="8275320" y="169164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0E7C86"/>
          </a:solidFill>
          <a:ln/>
        </p:spPr>
      </p:sp>
      <p:sp>
        <p:nvSpPr>
          <p:cNvPr id="7" name="Shape 4"/>
          <p:cNvSpPr/>
          <p:nvPr/>
        </p:nvSpPr>
        <p:spPr>
          <a:xfrm>
            <a:off x="8549640" y="1965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0399" y="209671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4964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spread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549640" y="301752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A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tenure (29 mo.) sits well below the mean (32.4 mo.), and total charges are right-skewed — consistent with a customer base weighted toward shorter-tenured accounts. This skew motivated the median-based imputation strategy for TotalCharges.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Class Distribution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49377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806440" y="18288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roughly 3-to-1 imbalance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806440" y="2377440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7,043 customers, 5,174 (73.5%) remained active while 1,869 (26.5%) churned. A naive classifier could reach ~73% accuracy simply by always predicting “No churn.”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806440" y="3611880"/>
            <a:ext cx="5760720" cy="1965960"/>
          </a:xfrm>
          <a:prstGeom prst="roundRect">
            <a:avLst>
              <a:gd name="adj" fmla="val 3721"/>
            </a:avLst>
          </a:prstGeom>
          <a:solidFill>
            <a:srgbClr val="FBE2DA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35040" y="3840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799" y="397123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20840" y="3794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for modeling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720840" y="4187952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imbalance must be accounted for — through class weighting, evaluation metrics beyond raw accuracy, or synthetic resampling techniques such as SMOTE.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Tenure &amp; Billing Patterns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52120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48640" y="4572000"/>
          <a:ext cx="521208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612648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double the tenure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6126480" y="23317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customers show more than double the average tenure of churned customers, while churned accounts are concentrated in higher monthly-fee brackets.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126480" y="35204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0F2A44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355080" y="352044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Newer, higher-paying customers are the most flight-risk segment.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126480" y="5166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relationships also explored: gender, senior citizen status, partner/dependents, and contract type vs. churn.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Business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F5F8F9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502920" cy="502920"/>
          </a:xfrm>
          <a:prstGeom prst="ellipse">
            <a:avLst/>
          </a:prstGeom>
          <a:solidFill>
            <a:srgbClr val="CFE8E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" y="19321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40487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Month-to-month customers churn more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734056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attrition than customers on longer-term contracts.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F5F8F9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1801368"/>
            <a:ext cx="502920" cy="502920"/>
          </a:xfrm>
          <a:prstGeom prst="ellipse">
            <a:avLst/>
          </a:prstGeom>
          <a:solidFill>
            <a:srgbClr val="CFE8E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327" y="193212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4568" y="240487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Tenure builds loyalty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44568" y="2734056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longer tenure are consistently more loyal.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F5F8F9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9328" y="1801368"/>
            <a:ext cx="502920" cy="502920"/>
          </a:xfrm>
          <a:prstGeom prst="ellipse">
            <a:avLst/>
          </a:prstGeom>
          <a:solidFill>
            <a:srgbClr val="CFE8E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087" y="193212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9328" y="240487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charges raise churn risk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39328" y="2734056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monthly charges are associated with increased churn.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29184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F5F8F9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493008"/>
            <a:ext cx="502920" cy="502920"/>
          </a:xfrm>
          <a:prstGeom prst="ellipse">
            <a:avLst/>
          </a:prstGeom>
          <a:solidFill>
            <a:srgbClr val="CFE8E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567" y="3623767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09651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Support reduces churn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9808" y="4425696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to Tech Support churn less frequently.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29184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F5F8F9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3493008"/>
            <a:ext cx="502920" cy="502920"/>
          </a:xfrm>
          <a:prstGeom prst="ellipse">
            <a:avLst/>
          </a:prstGeom>
          <a:solidFill>
            <a:srgbClr val="CFE8E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5327" y="3623767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44568" y="409651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contracts help most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44568" y="4425696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contracts significantly reduce churn likelihood.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29184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F5F8F9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9328" y="3493008"/>
            <a:ext cx="502920" cy="502920"/>
          </a:xfrm>
          <a:prstGeom prst="ellipse">
            <a:avLst/>
          </a:prstGeom>
          <a:solidFill>
            <a:srgbClr val="CFE8E7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0087" y="3623767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9328" y="409651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 Check payers churn more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39328" y="4425696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payment method shows higher churn than others.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FOR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CFE8E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174760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819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Identifier Removal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1920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non-predictive customerID column was dropped.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66928" cy="566928"/>
          </a:xfrm>
          <a:prstGeom prst="ellipse">
            <a:avLst/>
          </a:prstGeom>
          <a:solidFill>
            <a:srgbClr val="CFE8E7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270772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5420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Encoding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25880" y="2880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categorical columns converted to numeric codes via scikit-learn's LabelEncoder.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566928" cy="566928"/>
          </a:xfrm>
          <a:prstGeom prst="ellipse">
            <a:avLst/>
          </a:prstGeom>
          <a:solidFill>
            <a:srgbClr val="CFE8E7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366784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5021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/ Target Split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25880" y="3840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X (7,043 × 19) separated from target vector y (Churn).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709160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0F2A44"/>
          </a:solidFill>
          <a:ln/>
        </p:spPr>
      </p:sp>
      <p:sp>
        <p:nvSpPr>
          <p:cNvPr id="17" name="Shape 12"/>
          <p:cNvSpPr/>
          <p:nvPr/>
        </p:nvSpPr>
        <p:spPr>
          <a:xfrm>
            <a:off x="685800" y="5074920"/>
            <a:ext cx="448056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Shape 13"/>
          <p:cNvSpPr/>
          <p:nvPr/>
        </p:nvSpPr>
        <p:spPr>
          <a:xfrm>
            <a:off x="5166360" y="5074920"/>
            <a:ext cx="1097280" cy="5029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9" name="Text 14"/>
          <p:cNvSpPr/>
          <p:nvPr/>
        </p:nvSpPr>
        <p:spPr>
          <a:xfrm>
            <a:off x="777240" y="5074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— 5,634 records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166360" y="5074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1,409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777240" y="5669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FE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— preserves the original churn class ratio in both sets.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85800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with Churn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858000" y="19659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327191" y="2002536"/>
            <a:ext cx="2359609" cy="20116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5" name="Text 20"/>
          <p:cNvSpPr/>
          <p:nvPr/>
        </p:nvSpPr>
        <p:spPr>
          <a:xfrm>
            <a:off x="11155680" y="19659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-0.397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858000" y="23682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594653" y="2404872"/>
            <a:ext cx="2092147" cy="20116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8" name="Text 23"/>
          <p:cNvSpPr/>
          <p:nvPr/>
        </p:nvSpPr>
        <p:spPr>
          <a:xfrm>
            <a:off x="11155680" y="236829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-0.352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858000" y="27706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OnlineSecurity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969100" y="2807208"/>
            <a:ext cx="1717700" cy="20116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1" name="Text 26"/>
          <p:cNvSpPr/>
          <p:nvPr/>
        </p:nvSpPr>
        <p:spPr>
          <a:xfrm>
            <a:off x="11155680" y="277063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-0.289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6858000" y="31729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TechSupport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7010705" y="3209544"/>
            <a:ext cx="1676095" cy="20116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4" name="Text 29"/>
          <p:cNvSpPr/>
          <p:nvPr/>
        </p:nvSpPr>
        <p:spPr>
          <a:xfrm>
            <a:off x="11155680" y="317296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-0.282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6858000" y="35753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7504024" y="3611880"/>
            <a:ext cx="1182776" cy="20116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7" name="Text 32"/>
          <p:cNvSpPr/>
          <p:nvPr/>
        </p:nvSpPr>
        <p:spPr>
          <a:xfrm>
            <a:off x="11155680" y="357530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-0.199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685800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8686800" y="4014216"/>
            <a:ext cx="1147115" cy="20116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0" name="Text 35"/>
          <p:cNvSpPr/>
          <p:nvPr/>
        </p:nvSpPr>
        <p:spPr>
          <a:xfrm>
            <a:off x="11155680" y="39776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+0.193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6858000" y="43799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PaperlessBilling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8686800" y="4416552"/>
            <a:ext cx="1141171" cy="20116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3" name="Text 38"/>
          <p:cNvSpPr/>
          <p:nvPr/>
        </p:nvSpPr>
        <p:spPr>
          <a:xfrm>
            <a:off x="11155680" y="437997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+0.192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6858000" y="47823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SeniorCitizen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8686800" y="4818888"/>
            <a:ext cx="897484" cy="20116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6" name="Text 41"/>
          <p:cNvSpPr/>
          <p:nvPr/>
        </p:nvSpPr>
        <p:spPr>
          <a:xfrm>
            <a:off x="11155680" y="478231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+0.151</a:t>
            </a:r>
            <a:endParaRPr lang="en-US" sz="950" dirty="0"/>
          </a:p>
        </p:txBody>
      </p:sp>
      <p:sp>
        <p:nvSpPr>
          <p:cNvPr id="47" name="Text 42"/>
          <p:cNvSpPr/>
          <p:nvPr/>
        </p:nvSpPr>
        <p:spPr>
          <a:xfrm>
            <a:off x="6858000" y="51846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PaymentMethod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8686800" y="5221224"/>
            <a:ext cx="635965" cy="20116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9" name="Text 44"/>
          <p:cNvSpPr/>
          <p:nvPr/>
        </p:nvSpPr>
        <p:spPr>
          <a:xfrm>
            <a:off x="11155680" y="518464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+0.107</a:t>
            </a:r>
            <a:endParaRPr lang="en-US" sz="950" dirty="0"/>
          </a:p>
        </p:txBody>
      </p:sp>
      <p:sp>
        <p:nvSpPr>
          <p:cNvPr id="50" name="Text 4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74066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0F2A44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58200" y="1737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FE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58200" y="2011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458200" y="2514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80.27%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458200" y="32004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— the highest of the three models evaluated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0" y="4160520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the majority “retained” class (0.85 precision / 0.89 recall). Balanced but modest on the minority “churned” class (0.65 precision / 0.57 recall) — consistent with the class imbalance seen in EDA.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INTERPRETABILITY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(Random Forest)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722376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508760"/>
            <a:ext cx="3657600" cy="4663440"/>
          </a:xfrm>
          <a:prstGeom prst="roundRect">
            <a:avLst>
              <a:gd name="adj" fmla="val 2000"/>
            </a:avLst>
          </a:prstGeom>
          <a:solidFill>
            <a:srgbClr val="F5F8F9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0" y="1783080"/>
            <a:ext cx="502920" cy="502920"/>
          </a:xfrm>
          <a:prstGeom prst="ellipse">
            <a:avLst/>
          </a:prstGeom>
          <a:solidFill>
            <a:srgbClr val="CFE8E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0359" y="1913839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0" y="2395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&amp; tenure dominate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229600" y="27889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Billing-related fields (TotalCharges, MonthlyCharges) together with tenure account for over half of the model's total predictive weight.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229600" y="39319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reinforces the correlation analysis: how much a customer pays and how long they've stayed are the dominant churn signals — followed by contract commitment and support/service subscriptions.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 INTO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0F2A44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55648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" y="188640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0" y="17190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35915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 long-term contracts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2852928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month-to-month customers to one- or two-year plans, given the strong negative correlation with churn.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554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0F2A44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44568" y="1755648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327" y="1886407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17190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44568" y="235915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retention offers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44568" y="2852928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incentivize high-risk customers — particularly newer, higher-billed accounts flagged by the model.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38160" y="1554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0F2A44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39328" y="1755648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087" y="1886407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247120" y="17190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39328" y="235915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 technical support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339328" y="2852928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and promote tech support services; subscribers show measurably lower churn.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3886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5F8F9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9808" y="4087368"/>
            <a:ext cx="502920" cy="502920"/>
          </a:xfrm>
          <a:prstGeom prst="ellipse">
            <a:avLst/>
          </a:prstGeom>
          <a:solidFill>
            <a:srgbClr val="CFE8E7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567" y="4218127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657600" y="40507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49808" y="469087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Rebalance high-charge pricing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49808" y="5184648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discounts or loyalty pricing to high monthly-charge customers, the segment most linked to attrition.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343400" y="3886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5F8F9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44568" y="4087368"/>
            <a:ext cx="502920" cy="502920"/>
          </a:xfrm>
          <a:prstGeom prst="ellipse">
            <a:avLst/>
          </a:prstGeom>
          <a:solidFill>
            <a:srgbClr val="CFE8E7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5327" y="4218127"/>
            <a:ext cx="241402" cy="24140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52360" y="40507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4544568" y="469087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tenure-based loyalty programs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544568" y="5184648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long-tenured customers to reinforce the loyalty already observed in the data.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8138160" y="3886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5F8F9"/>
          </a:solidFill>
          <a:ln/>
          <a:effectLst>
            <a:outerShdw blurRad="101600" dist="38100" dir="5400000" algn="bl" rotWithShape="0">
              <a:srgbClr val="1A2A33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39328" y="4087368"/>
            <a:ext cx="502920" cy="502920"/>
          </a:xfrm>
          <a:prstGeom prst="ellipse">
            <a:avLst/>
          </a:prstGeom>
          <a:solidFill>
            <a:srgbClr val="CFE8E7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0087" y="4218127"/>
            <a:ext cx="241402" cy="24140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1247120" y="40507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8339328" y="469087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at-risk customers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8339328" y="5184648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model's churn-risk scores to flag and proactively engage customers before they leave.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0E7C8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291840" cy="3291840"/>
          </a:xfrm>
          <a:prstGeom prst="ellipse">
            <a:avLst/>
          </a:prstGeom>
          <a:solidFill>
            <a:srgbClr val="E4572E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FE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D7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established a complete, reproducible pipeline — from raw data ingestion through cleaning, EDA, feature engineering, model training, and interpretability analysis — culminating in a cleaned dataset and a trained Logistic Regression / Random Forest model pair ready for deployment or further refinement.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FE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1729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class imbalance directly with SMOTE or class-weighted loss functions to improve recall on churned customers.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67328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739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gradient-boosted models (XGBoost, LightGBM), which often outperform Random Forest and Logistic Regression on tabular churn data.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334256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3068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(grid or random search) for the top-performing models.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901184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901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8737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model behind a scoring pipeline that flags at-risk customers for the retention team on a recurring basis.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46811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68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440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retrain the model as new customer and billing data becomes available.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1183</Words>
  <Application>Microsoft Office PowerPoint</Application>
  <PresentationFormat>Widescreen</PresentationFormat>
  <Paragraphs>221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Customer Churn - Data Analyst Project Report</dc:title>
  <dc:subject>PptxGenJS Presentation</dc:subject>
  <dc:creator>Mohamed Aashim K</dc:creator>
  <cp:lastModifiedBy>vineeth kumar</cp:lastModifiedBy>
  <cp:revision>2</cp:revision>
  <dcterms:created xsi:type="dcterms:W3CDTF">2026-07-01T06:43:10Z</dcterms:created>
  <dcterms:modified xsi:type="dcterms:W3CDTF">2026-07-01T06:46:44Z</dcterms:modified>
</cp:coreProperties>
</file>